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  <p:sldMasterId id="2147483696" r:id="rId5"/>
  </p:sldMasterIdLst>
  <p:notesMasterIdLst>
    <p:notesMasterId r:id="rId8"/>
  </p:notesMasterIdLst>
  <p:handoutMasterIdLst>
    <p:handoutMasterId r:id="rId9"/>
  </p:handoutMasterIdLst>
  <p:sldIdLst>
    <p:sldId id="256" r:id="rId6"/>
    <p:sldId id="257" r:id="rId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02F0464-E022-41F7-8D1C-32725ADCDC86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020B0D-6F11-480E-6D5B-1C8B4C4D5B13}" name="Susan Robinson" initials="SR" userId="S::susan.robinson@ba.com::bd9a80f1-9417-4c5f-a51c-c43c10bbe4ea" providerId="AD"/>
  <p188:author id="{0DB60536-BDA6-B3E9-DDC1-435976C94759}" name="Sandra Green" initials="SG" userId="S::sandra.green@ba.com::2185cfad-8141-4ae4-81aa-22841564645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Robinson" initials="SR" lastIdx="1" clrIdx="0">
    <p:extLst>
      <p:ext uri="{19B8F6BF-5375-455C-9EA6-DF929625EA0E}">
        <p15:presenceInfo xmlns:p15="http://schemas.microsoft.com/office/powerpoint/2012/main" userId="S::susan.robinson@ba.com::bd9a80f1-9417-4c5f-a51c-c43c10bbe4e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574"/>
    <a:srgbClr val="BCCFEC"/>
    <a:srgbClr val="ADD1D7"/>
    <a:srgbClr val="F6F6F6"/>
    <a:srgbClr val="E47874"/>
    <a:srgbClr val="BEB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2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FD8FC5-53C5-1443-9915-3AD6E5146F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BDE66-419A-C942-BD40-DBE6EF083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C3862-9A0E-8D45-8851-D3D1E9E79E35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5892D-D1DF-524A-995F-C2AC70EDDB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87BF9-7D54-9542-A137-65D3B7AB84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9D33C-CC47-D941-BA46-9DC756C74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35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19FAC-6822-5D45-B6D7-159040EBDA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E1B22-2DBE-1B42-9AD7-8EA3C1BAF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9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ABBA Confident Blue)">
    <p:bg>
      <p:bgPr>
        <a:solidFill>
          <a:srgbClr val="0B5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B57CF7-57C6-0A40-B1F2-2B6C75EAF4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14550"/>
                </a:schemeClr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9C2A4-908C-CC4D-886F-D63CEFE6C9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81300" y="2619351"/>
            <a:ext cx="6629400" cy="2387600"/>
          </a:xfrm>
        </p:spPr>
        <p:txBody>
          <a:bodyPr anchor="ctr">
            <a:normAutofit/>
          </a:bodyPr>
          <a:lstStyle>
            <a:lvl1pPr algn="ctr">
              <a:defRPr sz="4800" cap="all" baseline="0">
                <a:ln w="22225">
                  <a:solidFill>
                    <a:schemeClr val="tx1"/>
                  </a:solidFill>
                </a:ln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FAB31-5DD6-FF49-8ADF-E3D5407890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264622"/>
            <a:ext cx="9144000" cy="8704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A27A5A19-5A06-0542-ACEE-E9C0FD0BF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93068" y="858819"/>
            <a:ext cx="1605864" cy="399469"/>
          </a:xfrm>
          <a:prstGeom prst="rect">
            <a:avLst/>
          </a:prstGeom>
        </p:spPr>
      </p:pic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27C31EAC-3710-F943-BE5E-2D615FF5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6230124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9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C6B38141-EC7F-BEE3-92F4-3D7770E588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8470" y="291519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11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FOR PURPOSES OF FORAGE VIRTUAL WORK EXPERIENCE PROGRAM</a:t>
            </a:r>
          </a:p>
        </p:txBody>
      </p:sp>
    </p:spTree>
    <p:extLst>
      <p:ext uri="{BB962C8B-B14F-4D97-AF65-F5344CB8AC3E}">
        <p14:creationId xmlns:p14="http://schemas.microsoft.com/office/powerpoint/2010/main" val="3337616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0E61-84B1-4AFC-B45F-6282A9D9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29384-1523-4337-B839-96FA617E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1D9E-D27F-4554-BE6E-550908FE1FBE}" type="datetime1">
              <a:rPr lang="en-GB" smtClean="0"/>
              <a:pPr/>
              <a:t>09/02/2026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9385B3-85E9-4023-BC4A-ADA40024170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47675" y="1676401"/>
            <a:ext cx="10749412" cy="4429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7938" indent="0">
              <a:buNone/>
              <a:tabLst/>
              <a:defRPr sz="1400"/>
            </a:lvl2pPr>
            <a:lvl3pPr marL="447675" indent="-188913">
              <a:tabLst/>
              <a:defRPr sz="1200"/>
            </a:lvl3pPr>
            <a:lvl4pPr marL="715963" indent="-233363">
              <a:tabLst/>
              <a:defRPr sz="1100"/>
            </a:lvl4pPr>
            <a:lvl5pPr marL="984250" indent="-233363">
              <a:tabLst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1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478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A0E0B4F7-25A6-07E6-ABB4-145D294D87B4}"/>
              </a:ext>
            </a:extLst>
          </p:cNvPr>
          <p:cNvSpPr txBox="1">
            <a:spLocks/>
          </p:cNvSpPr>
          <p:nvPr userDrawn="1"/>
        </p:nvSpPr>
        <p:spPr>
          <a:xfrm>
            <a:off x="1338470" y="291519"/>
            <a:ext cx="9144000" cy="275781"/>
          </a:xfrm>
        </p:spPr>
        <p:txBody>
          <a:bodyPr anchor="ctr">
            <a:sp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 spc="150" baseline="0">
                <a:solidFill>
                  <a:schemeClr val="tx1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FOR PURPOSES OF FORAGE VIRTUAL WORK EXPERIENCE PROGRAM</a:t>
            </a:r>
          </a:p>
        </p:txBody>
      </p:sp>
    </p:spTree>
    <p:extLst>
      <p:ext uri="{BB962C8B-B14F-4D97-AF65-F5344CB8AC3E}">
        <p14:creationId xmlns:p14="http://schemas.microsoft.com/office/powerpoint/2010/main" val="105943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600">
          <a:ln w="19050">
            <a:solidFill>
              <a:schemeClr val="bg1"/>
            </a:solidFill>
          </a:ln>
          <a:noFill/>
          <a:latin typeface="Mylius Modern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CAE110-9424-BA48-83B0-E7C192BA04BD}"/>
              </a:ext>
            </a:extLst>
          </p:cNvPr>
          <p:cNvSpPr/>
          <p:nvPr userDrawn="1"/>
        </p:nvSpPr>
        <p:spPr>
          <a:xfrm>
            <a:off x="0" y="0"/>
            <a:ext cx="12192000" cy="1045029"/>
          </a:xfrm>
          <a:prstGeom prst="rect">
            <a:avLst/>
          </a:prstGeom>
          <a:solidFill>
            <a:srgbClr val="ADD1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82D79-3D00-3A42-BD93-6B3D72B8C049}"/>
              </a:ext>
            </a:extLst>
          </p:cNvPr>
          <p:cNvSpPr txBox="1"/>
          <p:nvPr userDrawn="1"/>
        </p:nvSpPr>
        <p:spPr>
          <a:xfrm>
            <a:off x="256583" y="6591386"/>
            <a:ext cx="45505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0" i="0" spc="0" dirty="0">
                <a:solidFill>
                  <a:srgbClr val="BEB3B2"/>
                </a:solidFill>
                <a:latin typeface="Mylius Modern" panose="020B0504020202020204" pitchFamily="34" charset="0"/>
              </a:rPr>
              <a:t>FOR PURPOSES OF FORAGE VIRTUAL WORK EXPERIENCE PROGRAM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B54ABC8-9A94-4548-9736-C4C7B4C0BAE2}"/>
              </a:ext>
            </a:extLst>
          </p:cNvPr>
          <p:cNvSpPr txBox="1">
            <a:spLocks/>
          </p:cNvSpPr>
          <p:nvPr userDrawn="1"/>
        </p:nvSpPr>
        <p:spPr>
          <a:xfrm>
            <a:off x="11251474" y="6583692"/>
            <a:ext cx="710068" cy="18466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1BACC82-5A65-4E43-B4FE-801ED5E2C88E}" type="slidenum">
              <a:rPr lang="en-GB" sz="700" b="0" i="0" smtClean="0">
                <a:solidFill>
                  <a:srgbClr val="BEB3B2"/>
                </a:solidFill>
                <a:latin typeface="Mylius Modern" panose="020B0504020202020204" pitchFamily="34" charset="0"/>
              </a:rPr>
              <a:pPr algn="r"/>
              <a:t>‹#›</a:t>
            </a:fld>
            <a:endParaRPr lang="en-GB" sz="1000" b="0" i="0">
              <a:solidFill>
                <a:srgbClr val="BEB3B2"/>
              </a:solidFill>
              <a:latin typeface="Mylius Modern" panose="020B05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8A772E0-A577-FA4A-8DD2-882CD356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72" y="323488"/>
            <a:ext cx="8797438" cy="44286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282FE7E8-8ACE-C049-AD78-27A9B8AC9B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10753" y="368300"/>
            <a:ext cx="1046285" cy="26027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33239F7-E119-B84B-937E-C500AF04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92159" y="6622164"/>
            <a:ext cx="2741736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GB" sz="700" b="0" i="0" cap="all" spc="110" baseline="0" smtClean="0">
                <a:solidFill>
                  <a:srgbClr val="BEB3B2"/>
                </a:solidFill>
                <a:latin typeface="Mylius Modern" panose="020B0504020202020204" pitchFamily="34" charset="0"/>
              </a:defRPr>
            </a:lvl1pPr>
          </a:lstStyle>
          <a:p>
            <a:fld id="{0CBD1D9E-D27F-4554-BE6E-550908FE1FBE}" type="datetime1">
              <a:rPr lang="en-GB" smtClean="0"/>
              <a:pPr/>
              <a:t>09/02/2026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1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 cap="all" spc="600" baseline="0">
          <a:solidFill>
            <a:schemeClr val="bg1"/>
          </a:solidFill>
          <a:latin typeface="Mylius Modern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2" orient="horz" pos="232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A003-EF0F-7525-8F4C-02C1EBAC5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1300" y="2000625"/>
            <a:ext cx="6629400" cy="2387600"/>
          </a:xfrm>
        </p:spPr>
        <p:txBody>
          <a:bodyPr/>
          <a:lstStyle/>
          <a:p>
            <a:r>
              <a:rPr lang="en-GB" dirty="0"/>
              <a:t>British Airways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FAAD5-BEA6-D647-CD8F-9337612F1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672" y="3649364"/>
            <a:ext cx="9144000" cy="870483"/>
          </a:xfrm>
        </p:spPr>
        <p:txBody>
          <a:bodyPr/>
          <a:lstStyle/>
          <a:p>
            <a:r>
              <a:rPr lang="en-GB" dirty="0"/>
              <a:t>Predictive model and its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AE56-6498-6C34-D5D9-05A0333BD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5540291"/>
            <a:ext cx="9144000" cy="1655448"/>
          </a:xfrm>
        </p:spPr>
        <p:txBody>
          <a:bodyPr/>
          <a:lstStyle/>
          <a:p>
            <a:r>
              <a:rPr lang="en-GB" dirty="0"/>
              <a:t>09.02.2026</a:t>
            </a:r>
          </a:p>
        </p:txBody>
      </p:sp>
    </p:spTree>
    <p:extLst>
      <p:ext uri="{BB962C8B-B14F-4D97-AF65-F5344CB8AC3E}">
        <p14:creationId xmlns:p14="http://schemas.microsoft.com/office/powerpoint/2010/main" val="13063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9EE2-AB7B-7C0C-1FC8-20E35CF4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Model for BRITISH Airline Customer Bookings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800D3-64B9-51D0-A6ED-3A65911D557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0" y="1054099"/>
            <a:ext cx="12192000" cy="2374901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Dataset: </a:t>
            </a:r>
            <a:r>
              <a:rPr lang="en-US" b="0" dirty="0"/>
              <a:t>49,162 records after outlier capping; balanced subsets (7,362 bookings + 8,000 non-bookings) for training.</a:t>
            </a:r>
          </a:p>
          <a:p>
            <a:pPr marL="285750" indent="-285750">
              <a:buFontTx/>
              <a:buChar char="-"/>
            </a:pPr>
            <a:r>
              <a:rPr lang="en-US" dirty="0"/>
              <a:t>Model: </a:t>
            </a:r>
            <a:r>
              <a:rPr lang="en-US" b="0" dirty="0" err="1"/>
              <a:t>RandomForest</a:t>
            </a:r>
            <a:r>
              <a:rPr lang="en-US" b="0" dirty="0"/>
              <a:t> with CV AUC 0.700 ± 0.011, test AUC-ROC 0.972, accuracy 92%.</a:t>
            </a:r>
          </a:p>
          <a:p>
            <a:pPr marL="285750" indent="-285750">
              <a:buFontTx/>
              <a:buChar char="-"/>
            </a:pPr>
            <a:r>
              <a:rPr lang="en-US" dirty="0"/>
              <a:t>Performance: </a:t>
            </a:r>
            <a:r>
              <a:rPr lang="en-US" b="0" dirty="0"/>
              <a:t>Outstanding discrimination and balance on balanced data.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Mylius Modern" panose="020B0504020202020204"/>
              </a:rPr>
              <a:t>Top Drivers: </a:t>
            </a:r>
            <a:r>
              <a:rPr lang="en-US" b="0" dirty="0">
                <a:latin typeface="Mylius Modern" panose="020B0504020202020204"/>
              </a:rPr>
              <a:t>Early booking signals and popular routes allow proactive outreach.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Mylius Modern" panose="020B0504020202020204"/>
              </a:rPr>
              <a:t>Revenue Uplift: </a:t>
            </a:r>
            <a:r>
              <a:rPr lang="en-US" b="0" dirty="0">
                <a:latin typeface="Mylius Modern" panose="020B0504020202020204"/>
              </a:rPr>
              <a:t>Potential 15-20% increase in bookings through personalized promotions.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Mylius Modern" panose="020B0504020202020204"/>
              </a:rPr>
              <a:t>Operational Benefits: </a:t>
            </a:r>
            <a:r>
              <a:rPr lang="en-US" b="0" dirty="0">
                <a:latin typeface="Mylius Modern" panose="020B0504020202020204"/>
              </a:rPr>
              <a:t>Optimize capacity, reduce waste, and gain competitive advantage in a crowded market. </a:t>
            </a:r>
            <a:br>
              <a:rPr lang="en-US" dirty="0">
                <a:latin typeface="Mylius Modern" panose="020B0504020202020204"/>
              </a:rPr>
            </a:br>
            <a:endParaRPr lang="en-US" b="0" dirty="0"/>
          </a:p>
          <a:p>
            <a:pPr marL="285750" indent="-285750">
              <a:buFontTx/>
              <a:buChar char="-"/>
            </a:pPr>
            <a:endParaRPr lang="en-US" b="0" dirty="0"/>
          </a:p>
          <a:p>
            <a:pPr marL="285750" indent="-285750">
              <a:buFontTx/>
              <a:buChar char="-"/>
            </a:pPr>
            <a:endParaRPr lang="en-US" b="0" dirty="0"/>
          </a:p>
          <a:p>
            <a:pPr marL="285750" indent="-285750">
              <a:buFontTx/>
              <a:buChar char="-"/>
            </a:pPr>
            <a:endParaRPr lang="en-US" b="0" dirty="0"/>
          </a:p>
          <a:p>
            <a:pPr marL="285750" indent="-285750">
              <a:buFontTx/>
              <a:buChar char="-"/>
            </a:pPr>
            <a:endParaRPr lang="en-US" b="0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84AEA7-50F1-157F-E36E-AF82E2F1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49312"/>
            <a:ext cx="5339461" cy="3608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3573B9-5CA8-96AE-77EE-585421DFC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962" y="3249312"/>
            <a:ext cx="4360830" cy="360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96362"/>
      </p:ext>
    </p:extLst>
  </p:cSld>
  <p:clrMapOvr>
    <a:masterClrMapping/>
  </p:clrMapOvr>
</p:sld>
</file>

<file path=ppt/theme/theme1.xml><?xml version="1.0" encoding="utf-8"?>
<a:theme xmlns:a="http://schemas.openxmlformats.org/drawingml/2006/main" name="Section Heading">
  <a:themeElements>
    <a:clrScheme name="British Original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B5574"/>
      </a:accent1>
      <a:accent2>
        <a:srgbClr val="BCCFEC"/>
      </a:accent2>
      <a:accent3>
        <a:srgbClr val="E37874"/>
      </a:accent3>
      <a:accent4>
        <a:srgbClr val="ADD1D7"/>
      </a:accent4>
      <a:accent5>
        <a:srgbClr val="BEB3B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 Better BA TD&amp;I internal ppt template" id="{D89623FF-54E7-4C51-A973-6231368CD68D}" vid="{3C29D505-96C1-4D86-8FE8-F692CDCBF9EA}"/>
    </a:ext>
  </a:extLst>
</a:theme>
</file>

<file path=ppt/theme/theme2.xml><?xml version="1.0" encoding="utf-8"?>
<a:theme xmlns:a="http://schemas.openxmlformats.org/drawingml/2006/main" name="Slide Body - Curious Blue (ABBA)">
  <a:themeElements>
    <a:clrScheme name="A BETTER BA">
      <a:dk1>
        <a:srgbClr val="0B5574"/>
      </a:dk1>
      <a:lt1>
        <a:srgbClr val="F6F6F6"/>
      </a:lt1>
      <a:dk2>
        <a:srgbClr val="BEB3B2"/>
      </a:dk2>
      <a:lt2>
        <a:srgbClr val="FFFFFF"/>
      </a:lt2>
      <a:accent1>
        <a:srgbClr val="ADD1D7"/>
      </a:accent1>
      <a:accent2>
        <a:srgbClr val="BCCFEC"/>
      </a:accent2>
      <a:accent3>
        <a:srgbClr val="E37874"/>
      </a:accent3>
      <a:accent4>
        <a:srgbClr val="ADD1D7"/>
      </a:accent4>
      <a:accent5>
        <a:srgbClr val="BEB3B2"/>
      </a:accent5>
      <a:accent6>
        <a:srgbClr val="A3D2D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 Better BA TD&amp;I internal ppt template" id="{D89623FF-54E7-4C51-A973-6231368CD68D}" vid="{97BF301D-186A-4A22-8E4C-E1F994A4840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1b85e46-be1c-4d4d-af3f-3ff4749bae08">
      <UserInfo>
        <DisplayName>Sarah Barr Miller</DisplayName>
        <AccountId>10</AccountId>
        <AccountType/>
      </UserInfo>
      <UserInfo>
        <DisplayName>Sandra Green</DisplayName>
        <AccountId>41</AccountId>
        <AccountType/>
      </UserInfo>
      <UserInfo>
        <DisplayName>Hazel Chesters</DisplayName>
        <AccountId>42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94255C9F47049B367F00913BED969" ma:contentTypeVersion="8" ma:contentTypeDescription="Create a new document." ma:contentTypeScope="" ma:versionID="669976127e9d99054ee2095d187ec24b">
  <xsd:schema xmlns:xsd="http://www.w3.org/2001/XMLSchema" xmlns:xs="http://www.w3.org/2001/XMLSchema" xmlns:p="http://schemas.microsoft.com/office/2006/metadata/properties" xmlns:ns2="86177072-acf3-469b-be5f-1201de6410bb" xmlns:ns3="81b85e46-be1c-4d4d-af3f-3ff4749bae08" targetNamespace="http://schemas.microsoft.com/office/2006/metadata/properties" ma:root="true" ma:fieldsID="480bda1865dbc1f7ead824dac06b125f" ns2:_="" ns3:_="">
    <xsd:import namespace="86177072-acf3-469b-be5f-1201de6410bb"/>
    <xsd:import namespace="81b85e46-be1c-4d4d-af3f-3ff4749ba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77072-acf3-469b-be5f-1201de641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85e46-be1c-4d4d-af3f-3ff4749ba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0A2C6C-ACEB-4D76-A29E-B1C9FEC52B8B}">
  <ds:schemaRefs>
    <ds:schemaRef ds:uri="81b85e46-be1c-4d4d-af3f-3ff4749bae08"/>
    <ds:schemaRef ds:uri="86177072-acf3-469b-be5f-1201de6410b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73D82A4-28C2-4B97-A470-A3247BBF4B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1A6194-F0BD-4282-83C9-95DFBAD1B667}">
  <ds:schemaRefs>
    <ds:schemaRef ds:uri="81b85e46-be1c-4d4d-af3f-3ff4749bae08"/>
    <ds:schemaRef ds:uri="86177072-acf3-469b-be5f-1201de6410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1783</TotalTime>
  <Words>107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Mylius Modern</vt:lpstr>
      <vt:lpstr>Section Heading</vt:lpstr>
      <vt:lpstr>Slide Body - Curious Blue (ABBA)</vt:lpstr>
      <vt:lpstr>British Airways</vt:lpstr>
      <vt:lpstr>Predictive Model for BRITISH Airline Customer Bookings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GDP Data Access Controls</dc:title>
  <dc:subject/>
  <dc:creator>Jake Pearce</dc:creator>
  <cp:keywords/>
  <dc:description/>
  <cp:lastModifiedBy>Bouchra Azrour</cp:lastModifiedBy>
  <cp:revision>29</cp:revision>
  <cp:lastPrinted>2022-06-09T07:44:13Z</cp:lastPrinted>
  <dcterms:created xsi:type="dcterms:W3CDTF">2022-02-22T07:39:05Z</dcterms:created>
  <dcterms:modified xsi:type="dcterms:W3CDTF">2026-02-09T20:52:59Z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0x01010082594255C9F47049B367F00913BED969</vt:lpwstr>
  </property>
</Properties>
</file>